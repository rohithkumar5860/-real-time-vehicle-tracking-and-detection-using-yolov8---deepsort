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60"/>
  </p:normalViewPr>
  <p:slideViewPr>
    <p:cSldViewPr snapToGrid="0">
      <p:cViewPr varScale="1">
        <p:scale>
          <a:sx n="86" d="100"/>
          <a:sy n="86" d="100"/>
        </p:scale>
        <p:origin x="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46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7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2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1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9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2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4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1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4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100000"/>
                    </a14:imgEffect>
                    <a14:imgEffect>
                      <a14:colorTemperature colorTemp="7019"/>
                    </a14:imgEffect>
                    <a14:imgEffect>
                      <a14:saturation sat="51000"/>
                    </a14:imgEffect>
                    <a14:imgEffect>
                      <a14:brightnessContrast contrast="-3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B72C1-FFF6-4ACC-AB46-7CD519246931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7D760-16CF-4A9E-BB32-8A7B55C0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61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42344"/>
            <a:ext cx="10668000" cy="2387600"/>
          </a:xfrm>
        </p:spPr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Real-Time Vehicle Detection and Tracking using YOLOv8 and </a:t>
            </a:r>
            <a:r>
              <a:rPr lang="en-US" b="1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DeepSORT</a:t>
            </a:r>
            <a:endParaRPr lang="en-US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" cy="169862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8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391900" y="11101387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/>
            </a:r>
            <a:br>
              <a:rPr lang="en-US" sz="2800" dirty="0" smtClean="0">
                <a:solidFill>
                  <a:schemeClr val="bg1"/>
                </a:solidFill>
              </a:rPr>
            </a:b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 smtClean="0">
                <a:solidFill>
                  <a:schemeClr val="bg1"/>
                </a:solidFill>
              </a:rPr>
              <a:t>	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954" y="925689"/>
            <a:ext cx="10826045" cy="4837995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 smtClean="0">
                <a:solidFill>
                  <a:schemeClr val="bg1"/>
                </a:solidFill>
              </a:rPr>
              <a:t>Introduction</a:t>
            </a:r>
            <a:r>
              <a:rPr lang="en-US" sz="3200" b="1" dirty="0" smtClean="0">
                <a:solidFill>
                  <a:schemeClr val="bg1"/>
                </a:solidFill>
              </a:rPr>
              <a:t> :-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</a:rPr>
              <a:t>	What </a:t>
            </a:r>
            <a:r>
              <a:rPr lang="en-US" b="1" dirty="0" smtClean="0">
                <a:solidFill>
                  <a:schemeClr val="bg1"/>
                </a:solidFill>
              </a:rPr>
              <a:t>is Vehicle Detection and Tracking?</a:t>
            </a:r>
            <a:endParaRPr lang="en-US" dirty="0" smtClean="0">
              <a:solidFill>
                <a:schemeClr val="bg1"/>
              </a:solidFill>
            </a:endParaRPr>
          </a:p>
          <a:p>
            <a:pPr lvl="3"/>
            <a:r>
              <a:rPr lang="en-US" sz="2200" dirty="0" smtClean="0">
                <a:solidFill>
                  <a:schemeClr val="bg1"/>
                </a:solidFill>
              </a:rPr>
              <a:t>It refers to identifying and tracking vehicles in video footage for </a:t>
            </a:r>
            <a:r>
              <a:rPr lang="en-US" sz="2200" dirty="0" smtClean="0">
                <a:solidFill>
                  <a:schemeClr val="bg1"/>
                </a:solidFill>
              </a:rPr>
              <a:t>applications</a:t>
            </a:r>
          </a:p>
          <a:p>
            <a:pPr marL="1371600" lvl="3" indent="0"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such </a:t>
            </a:r>
            <a:r>
              <a:rPr lang="en-US" sz="2200" dirty="0" smtClean="0">
                <a:solidFill>
                  <a:schemeClr val="bg1"/>
                </a:solidFill>
              </a:rPr>
              <a:t>as traffic monitoring, autonomous driving, and road safety analysis.</a:t>
            </a:r>
          </a:p>
          <a:p>
            <a:pPr lvl="3"/>
            <a:r>
              <a:rPr lang="en-US" sz="2200" dirty="0" smtClean="0">
                <a:solidFill>
                  <a:schemeClr val="bg1"/>
                </a:solidFill>
              </a:rPr>
              <a:t>It enables real-time traffic analysis and assists in intelligent </a:t>
            </a:r>
            <a:r>
              <a:rPr lang="en-US" sz="2200" dirty="0" smtClean="0">
                <a:solidFill>
                  <a:schemeClr val="bg1"/>
                </a:solidFill>
              </a:rPr>
              <a:t>transportation</a:t>
            </a:r>
          </a:p>
          <a:p>
            <a:pPr marL="1371600" lvl="3" indent="0">
              <a:buNone/>
            </a:pPr>
            <a:r>
              <a:rPr lang="en-US" sz="2200" dirty="0" smtClean="0">
                <a:solidFill>
                  <a:schemeClr val="bg1"/>
                </a:solidFill>
              </a:rPr>
              <a:t>systems </a:t>
            </a:r>
            <a:r>
              <a:rPr lang="en-US" sz="2200" dirty="0" smtClean="0">
                <a:solidFill>
                  <a:schemeClr val="bg1"/>
                </a:solidFill>
              </a:rPr>
              <a:t>(</a:t>
            </a:r>
            <a:r>
              <a:rPr lang="en-US" sz="2200" dirty="0" smtClean="0">
                <a:solidFill>
                  <a:schemeClr val="bg1"/>
                </a:solidFill>
              </a:rPr>
              <a:t>ITS)</a:t>
            </a:r>
          </a:p>
          <a:p>
            <a:pPr marL="914400" lvl="2" indent="0">
              <a:buNone/>
            </a:pPr>
            <a:r>
              <a:rPr lang="en-US" sz="2800" b="1" dirty="0" smtClean="0">
                <a:solidFill>
                  <a:schemeClr val="bg1"/>
                </a:solidFill>
              </a:rPr>
              <a:t>Why </a:t>
            </a:r>
            <a:r>
              <a:rPr lang="en-US" sz="2800" b="1" dirty="0">
                <a:solidFill>
                  <a:schemeClr val="bg1"/>
                </a:solidFill>
              </a:rPr>
              <a:t>is it Important?</a:t>
            </a:r>
          </a:p>
          <a:p>
            <a:pPr lvl="3"/>
            <a:r>
              <a:rPr lang="en-US" sz="2200" dirty="0">
                <a:solidFill>
                  <a:schemeClr val="bg1"/>
                </a:solidFill>
              </a:rPr>
              <a:t>Helps in reducing congestion and accidents</a:t>
            </a:r>
          </a:p>
          <a:p>
            <a:pPr lvl="3"/>
            <a:r>
              <a:rPr lang="en-US" sz="2200" dirty="0">
                <a:solidFill>
                  <a:schemeClr val="bg1"/>
                </a:solidFill>
              </a:rPr>
              <a:t>Supports self-driving car technology</a:t>
            </a:r>
          </a:p>
          <a:p>
            <a:pPr lvl="3"/>
            <a:r>
              <a:rPr lang="en-US" sz="2200" dirty="0">
                <a:solidFill>
                  <a:schemeClr val="bg1"/>
                </a:solidFill>
              </a:rPr>
              <a:t>Enhances law enforcement and surveillance</a:t>
            </a:r>
          </a:p>
          <a:p>
            <a:pPr lvl="2"/>
            <a:endParaRPr lang="en-US" sz="2400" dirty="0">
              <a:solidFill>
                <a:schemeClr val="bg1"/>
              </a:solidFill>
            </a:endParaRPr>
          </a:p>
          <a:p>
            <a:pPr marL="914400" lvl="2" indent="0">
              <a:buNone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914400" lvl="2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914400" lvl="2" indent="0">
              <a:buNone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914400" lvl="2" indent="0">
              <a:buNone/>
            </a:pP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27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0"/>
            <a:ext cx="953135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016000"/>
            <a:ext cx="10515600" cy="4504266"/>
          </a:xfrm>
        </p:spPr>
        <p:txBody>
          <a:bodyPr>
            <a:normAutofit/>
          </a:bodyPr>
          <a:lstStyle/>
          <a:p>
            <a:r>
              <a:rPr lang="en-US" sz="3200" b="1" u="sng" dirty="0" smtClean="0">
                <a:solidFill>
                  <a:schemeClr val="bg1"/>
                </a:solidFill>
              </a:rPr>
              <a:t>Objective</a:t>
            </a:r>
            <a:r>
              <a:rPr lang="en-US" sz="3200" u="sng" dirty="0" smtClean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:-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	</a:t>
            </a:r>
            <a:r>
              <a:rPr lang="en-US" sz="2800" u="sng" dirty="0" smtClean="0">
                <a:solidFill>
                  <a:schemeClr val="bg1"/>
                </a:solidFill>
              </a:rPr>
              <a:t>Primary Goal</a:t>
            </a:r>
            <a:r>
              <a:rPr lang="en-US" sz="2800" dirty="0" smtClean="0">
                <a:solidFill>
                  <a:schemeClr val="bg1"/>
                </a:solidFill>
              </a:rPr>
              <a:t>:-</a:t>
            </a:r>
            <a:endParaRPr lang="en-US" sz="2800" dirty="0" smtClean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smtClean="0">
                <a:solidFill>
                  <a:schemeClr val="bg1"/>
                </a:solidFill>
              </a:rPr>
              <a:t>To </a:t>
            </a:r>
            <a:r>
              <a:rPr lang="en-US" dirty="0" smtClean="0">
                <a:solidFill>
                  <a:schemeClr val="bg1"/>
                </a:solidFill>
              </a:rPr>
              <a:t>develop a </a:t>
            </a:r>
            <a:r>
              <a:rPr lang="en-US" b="1" dirty="0" smtClean="0">
                <a:solidFill>
                  <a:schemeClr val="bg1"/>
                </a:solidFill>
              </a:rPr>
              <a:t>real-time system</a:t>
            </a:r>
            <a:r>
              <a:rPr lang="en-US" dirty="0" smtClean="0">
                <a:solidFill>
                  <a:schemeClr val="bg1"/>
                </a:solidFill>
              </a:rPr>
              <a:t> that detects and tracks multiple vehicles in a video using advanced deep-learning techniques.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2800" b="1" u="sng" dirty="0" smtClean="0">
                <a:solidFill>
                  <a:schemeClr val="bg1"/>
                </a:solidFill>
              </a:rPr>
              <a:t>Key </a:t>
            </a:r>
            <a:r>
              <a:rPr lang="en-US" sz="2800" b="1" u="sng" dirty="0" smtClean="0">
                <a:solidFill>
                  <a:schemeClr val="bg1"/>
                </a:solidFill>
              </a:rPr>
              <a:t>Features </a:t>
            </a:r>
            <a:r>
              <a:rPr lang="en-US" sz="2800" dirty="0" smtClean="0">
                <a:solidFill>
                  <a:schemeClr val="bg1"/>
                </a:solidFill>
              </a:rPr>
              <a:t>:-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High-speed and accurate detection using </a:t>
            </a:r>
            <a:r>
              <a:rPr lang="en-US" sz="2400" b="1" dirty="0" smtClean="0">
                <a:solidFill>
                  <a:schemeClr val="bg1"/>
                </a:solidFill>
              </a:rPr>
              <a:t>YOLOv8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Multi-object tracking with </a:t>
            </a:r>
            <a:r>
              <a:rPr lang="en-US" sz="2400" b="1" dirty="0" err="1" smtClean="0">
                <a:solidFill>
                  <a:schemeClr val="bg1"/>
                </a:solidFill>
              </a:rPr>
              <a:t>DeepSORT</a:t>
            </a:r>
            <a:endParaRPr lang="en-US" sz="2400" b="1" dirty="0" smtClean="0">
              <a:solidFill>
                <a:schemeClr val="bg1"/>
              </a:solidFill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Maintains vehicle identities across frames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Processes video in </a:t>
            </a:r>
            <a:r>
              <a:rPr lang="en-US" sz="2400" b="1" dirty="0" smtClean="0">
                <a:solidFill>
                  <a:schemeClr val="bg1"/>
                </a:solidFill>
              </a:rPr>
              <a:t>real-time</a:t>
            </a:r>
            <a:endParaRPr lang="en-US" sz="2400" dirty="0" smtClean="0">
              <a:solidFill>
                <a:schemeClr val="bg1"/>
              </a:solidFill>
            </a:endParaRPr>
          </a:p>
          <a:p>
            <a:pPr lvl="3"/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59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-2365829" y="1085624"/>
            <a:ext cx="367394" cy="2496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49943"/>
            <a:ext cx="10515600" cy="5805713"/>
          </a:xfrm>
        </p:spPr>
        <p:txBody>
          <a:bodyPr/>
          <a:lstStyle/>
          <a:p>
            <a:r>
              <a:rPr lang="en-US" sz="2800" b="1" u="sng" dirty="0">
                <a:solidFill>
                  <a:schemeClr val="bg1"/>
                </a:solidFill>
              </a:rPr>
              <a:t>Technologies </a:t>
            </a:r>
            <a:r>
              <a:rPr lang="en-US" sz="2800" b="1" u="sng" dirty="0" smtClean="0">
                <a:solidFill>
                  <a:schemeClr val="bg1"/>
                </a:solidFill>
              </a:rPr>
              <a:t>Used </a:t>
            </a:r>
            <a:r>
              <a:rPr lang="en-US" sz="2800" b="1" dirty="0" smtClean="0">
                <a:solidFill>
                  <a:schemeClr val="bg1"/>
                </a:solidFill>
              </a:rPr>
              <a:t>:-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YOLOv8 (You Only Look </a:t>
            </a:r>
            <a:r>
              <a:rPr lang="en-US" b="1" dirty="0" smtClean="0">
                <a:solidFill>
                  <a:schemeClr val="bg1"/>
                </a:solidFill>
              </a:rPr>
              <a:t>Once)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smtClean="0">
                <a:solidFill>
                  <a:schemeClr val="bg1"/>
                </a:solidFill>
              </a:rPr>
              <a:t>.A </a:t>
            </a:r>
            <a:r>
              <a:rPr lang="en-US" dirty="0">
                <a:solidFill>
                  <a:schemeClr val="bg1"/>
                </a:solidFill>
              </a:rPr>
              <a:t>state-of-the-art </a:t>
            </a:r>
            <a:r>
              <a:rPr lang="en-US" b="1" dirty="0">
                <a:solidFill>
                  <a:schemeClr val="bg1"/>
                </a:solidFill>
              </a:rPr>
              <a:t>deep learning model</a:t>
            </a:r>
            <a:r>
              <a:rPr lang="en-US" dirty="0">
                <a:solidFill>
                  <a:schemeClr val="bg1"/>
                </a:solidFill>
              </a:rPr>
              <a:t> for object detection.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Detects </a:t>
            </a:r>
            <a:r>
              <a:rPr lang="en-US" dirty="0">
                <a:solidFill>
                  <a:schemeClr val="bg1"/>
                </a:solidFill>
              </a:rPr>
              <a:t>vehicles </a:t>
            </a:r>
            <a:r>
              <a:rPr lang="en-US" b="1" dirty="0">
                <a:solidFill>
                  <a:schemeClr val="bg1"/>
                </a:solidFill>
              </a:rPr>
              <a:t>efficiently with high accuracy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DeepSORT</a:t>
            </a:r>
            <a:r>
              <a:rPr lang="en-US" b="1" dirty="0">
                <a:solidFill>
                  <a:schemeClr val="bg1"/>
                </a:solidFill>
              </a:rPr>
              <a:t> (Simple Online and </a:t>
            </a:r>
            <a:r>
              <a:rPr lang="en-US" b="1" dirty="0" err="1">
                <a:solidFill>
                  <a:schemeClr val="bg1"/>
                </a:solidFill>
              </a:rPr>
              <a:t>Realtime</a:t>
            </a:r>
            <a:r>
              <a:rPr lang="en-US" b="1" dirty="0">
                <a:solidFill>
                  <a:schemeClr val="bg1"/>
                </a:solidFill>
              </a:rPr>
              <a:t> Tracker)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>
                <a:solidFill>
                  <a:schemeClr val="bg1"/>
                </a:solidFill>
              </a:rPr>
              <a:t>advanced </a:t>
            </a:r>
            <a:r>
              <a:rPr lang="en-US" b="1" dirty="0">
                <a:solidFill>
                  <a:schemeClr val="bg1"/>
                </a:solidFill>
              </a:rPr>
              <a:t>tracking algorithm</a:t>
            </a:r>
            <a:r>
              <a:rPr lang="en-US" dirty="0">
                <a:solidFill>
                  <a:schemeClr val="bg1"/>
                </a:solidFill>
              </a:rPr>
              <a:t> that assigns </a:t>
            </a:r>
            <a:r>
              <a:rPr lang="en-US" b="1" dirty="0">
                <a:solidFill>
                  <a:schemeClr val="bg1"/>
                </a:solidFill>
              </a:rPr>
              <a:t>unique IDs</a:t>
            </a:r>
            <a:r>
              <a:rPr lang="en-US" dirty="0">
                <a:solidFill>
                  <a:schemeClr val="bg1"/>
                </a:solidFill>
              </a:rPr>
              <a:t> to objects.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Uses </a:t>
            </a:r>
            <a:r>
              <a:rPr lang="en-US" b="1" dirty="0" smtClean="0">
                <a:solidFill>
                  <a:schemeClr val="bg1"/>
                </a:solidFill>
              </a:rPr>
              <a:t>motion </a:t>
            </a:r>
            <a:r>
              <a:rPr lang="en-US" b="1" dirty="0">
                <a:solidFill>
                  <a:schemeClr val="bg1"/>
                </a:solidFill>
              </a:rPr>
              <a:t>and appearance-based tracking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OpenCV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Used </a:t>
            </a:r>
            <a:r>
              <a:rPr lang="en-US" dirty="0">
                <a:solidFill>
                  <a:schemeClr val="bg1"/>
                </a:solidFill>
              </a:rPr>
              <a:t>for </a:t>
            </a:r>
            <a:r>
              <a:rPr lang="en-US" b="1" dirty="0">
                <a:solidFill>
                  <a:schemeClr val="bg1"/>
                </a:solidFill>
              </a:rPr>
              <a:t>image processing and video analysis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Google </a:t>
            </a:r>
            <a:r>
              <a:rPr lang="en-US" b="1" dirty="0" err="1">
                <a:solidFill>
                  <a:schemeClr val="bg1"/>
                </a:solidFill>
              </a:rPr>
              <a:t>Colab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Platform </a:t>
            </a:r>
            <a:r>
              <a:rPr lang="en-US" dirty="0">
                <a:solidFill>
                  <a:schemeClr val="bg1"/>
                </a:solidFill>
              </a:rPr>
              <a:t>for </a:t>
            </a:r>
            <a:r>
              <a:rPr lang="en-US" b="1" dirty="0">
                <a:solidFill>
                  <a:schemeClr val="bg1"/>
                </a:solidFill>
              </a:rPr>
              <a:t>running the model efficiently with GPU support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4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831850" y="220337"/>
            <a:ext cx="159668" cy="167378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883476"/>
            <a:ext cx="10515600" cy="4911398"/>
          </a:xfrm>
        </p:spPr>
        <p:txBody>
          <a:bodyPr/>
          <a:lstStyle/>
          <a:p>
            <a:r>
              <a:rPr lang="en-US" sz="2800" b="1" u="sng" dirty="0">
                <a:solidFill>
                  <a:schemeClr val="bg1"/>
                </a:solidFill>
              </a:rPr>
              <a:t>Methodology </a:t>
            </a:r>
            <a:r>
              <a:rPr lang="en-US" sz="2800" b="1" u="sng" dirty="0" smtClean="0">
                <a:solidFill>
                  <a:schemeClr val="bg1"/>
                </a:solidFill>
              </a:rPr>
              <a:t>Overview </a:t>
            </a:r>
            <a:r>
              <a:rPr lang="en-US" sz="2800" b="1" dirty="0" smtClean="0">
                <a:solidFill>
                  <a:schemeClr val="bg1"/>
                </a:solidFill>
              </a:rPr>
              <a:t>:-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Step 1: Data Acquisition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Video </a:t>
            </a:r>
            <a:r>
              <a:rPr lang="en-US" dirty="0">
                <a:solidFill>
                  <a:schemeClr val="bg1"/>
                </a:solidFill>
              </a:rPr>
              <a:t>input is captured from </a:t>
            </a:r>
            <a:r>
              <a:rPr lang="en-US" b="1" dirty="0">
                <a:solidFill>
                  <a:schemeClr val="bg1"/>
                </a:solidFill>
              </a:rPr>
              <a:t>traffic cameras, </a:t>
            </a:r>
            <a:r>
              <a:rPr lang="en-US" b="1" dirty="0" err="1">
                <a:solidFill>
                  <a:schemeClr val="bg1"/>
                </a:solidFill>
              </a:rPr>
              <a:t>dashcams</a:t>
            </a:r>
            <a:r>
              <a:rPr lang="en-US" b="1" dirty="0">
                <a:solidFill>
                  <a:schemeClr val="bg1"/>
                </a:solidFill>
              </a:rPr>
              <a:t>, or CCTV feeds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2: Object Detection (YOLOv8)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Identifies </a:t>
            </a:r>
            <a:r>
              <a:rPr lang="en-US" b="1" dirty="0">
                <a:solidFill>
                  <a:schemeClr val="bg1"/>
                </a:solidFill>
              </a:rPr>
              <a:t>cars, buses, and trucks</a:t>
            </a:r>
            <a:r>
              <a:rPr lang="en-US" dirty="0">
                <a:solidFill>
                  <a:schemeClr val="bg1"/>
                </a:solidFill>
              </a:rPr>
              <a:t> in each frame.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3: Vehicle Tracking (</a:t>
            </a:r>
            <a:r>
              <a:rPr lang="en-US" b="1" dirty="0" err="1">
                <a:solidFill>
                  <a:schemeClr val="bg1"/>
                </a:solidFill>
              </a:rPr>
              <a:t>DeepSORT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Assigns </a:t>
            </a:r>
            <a:r>
              <a:rPr lang="en-US" b="1" dirty="0">
                <a:solidFill>
                  <a:schemeClr val="bg1"/>
                </a:solidFill>
              </a:rPr>
              <a:t>unique IDs</a:t>
            </a:r>
            <a:r>
              <a:rPr lang="en-US" dirty="0">
                <a:solidFill>
                  <a:schemeClr val="bg1"/>
                </a:solidFill>
              </a:rPr>
              <a:t> to vehicles and tracks them across frames.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4: Display &amp; Analysis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The </a:t>
            </a:r>
            <a:r>
              <a:rPr lang="en-US" dirty="0">
                <a:solidFill>
                  <a:schemeClr val="bg1"/>
                </a:solidFill>
              </a:rPr>
              <a:t>output </a:t>
            </a:r>
            <a:r>
              <a:rPr lang="en-US" b="1" dirty="0">
                <a:solidFill>
                  <a:schemeClr val="bg1"/>
                </a:solidFill>
              </a:rPr>
              <a:t>video</a:t>
            </a:r>
            <a:r>
              <a:rPr lang="en-US" dirty="0">
                <a:solidFill>
                  <a:schemeClr val="bg1"/>
                </a:solidFill>
              </a:rPr>
              <a:t> shows </a:t>
            </a:r>
            <a:r>
              <a:rPr lang="en-US" b="1" dirty="0">
                <a:solidFill>
                  <a:schemeClr val="bg1"/>
                </a:solidFill>
              </a:rPr>
              <a:t>bounding boxes and tracking IDs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55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 flipV="1">
            <a:off x="88135" y="165254"/>
            <a:ext cx="225921" cy="77330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5717" y="-354035"/>
            <a:ext cx="10515600" cy="5682389"/>
          </a:xfrm>
        </p:spPr>
        <p:txBody>
          <a:bodyPr/>
          <a:lstStyle/>
          <a:p>
            <a:endParaRPr lang="en-US" sz="2800" b="1" u="sng" dirty="0" smtClean="0"/>
          </a:p>
          <a:p>
            <a:endParaRPr lang="en-US" sz="2800" b="1" u="sng" dirty="0"/>
          </a:p>
          <a:p>
            <a:endParaRPr lang="en-US" sz="2800" b="1" u="sng" dirty="0" smtClean="0"/>
          </a:p>
          <a:p>
            <a:r>
              <a:rPr lang="en-US" sz="2800" b="1" u="sng" dirty="0" smtClean="0">
                <a:solidFill>
                  <a:schemeClr val="bg1"/>
                </a:solidFill>
              </a:rPr>
              <a:t>YOLOv8 </a:t>
            </a:r>
            <a:r>
              <a:rPr lang="en-US" sz="2800" b="1" u="sng" dirty="0">
                <a:solidFill>
                  <a:schemeClr val="bg1"/>
                </a:solidFill>
              </a:rPr>
              <a:t>for Vehicle </a:t>
            </a:r>
            <a:r>
              <a:rPr lang="en-US" sz="2800" b="1" u="sng" dirty="0" smtClean="0">
                <a:solidFill>
                  <a:schemeClr val="bg1"/>
                </a:solidFill>
              </a:rPr>
              <a:t>Detection</a:t>
            </a:r>
            <a:r>
              <a:rPr lang="en-US" sz="2800" b="1" dirty="0" smtClean="0">
                <a:solidFill>
                  <a:schemeClr val="bg1"/>
                </a:solidFill>
              </a:rPr>
              <a:t> :-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How </a:t>
            </a:r>
            <a:r>
              <a:rPr lang="en-US" b="1" dirty="0">
                <a:solidFill>
                  <a:schemeClr val="bg1"/>
                </a:solidFill>
              </a:rPr>
              <a:t>YOLOv8 Works?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Uses </a:t>
            </a: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single neural network</a:t>
            </a:r>
            <a:r>
              <a:rPr lang="en-US" dirty="0">
                <a:solidFill>
                  <a:schemeClr val="bg1"/>
                </a:solidFill>
              </a:rPr>
              <a:t> to process an entire image in one go.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Outputs </a:t>
            </a:r>
            <a:r>
              <a:rPr lang="en-US" b="1" dirty="0">
                <a:solidFill>
                  <a:schemeClr val="bg1"/>
                </a:solidFill>
              </a:rPr>
              <a:t>bounding boxes, class labels, and confidence scores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Advantages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Faster </a:t>
            </a:r>
            <a:r>
              <a:rPr lang="en-US" dirty="0">
                <a:solidFill>
                  <a:schemeClr val="bg1"/>
                </a:solidFill>
              </a:rPr>
              <a:t>and more efficient than previous YOLO versions.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High </a:t>
            </a:r>
            <a:r>
              <a:rPr lang="en-US" dirty="0">
                <a:solidFill>
                  <a:schemeClr val="bg1"/>
                </a:solidFill>
              </a:rPr>
              <a:t>accuracy for </a:t>
            </a:r>
            <a:r>
              <a:rPr lang="en-US" b="1" dirty="0">
                <a:solidFill>
                  <a:schemeClr val="bg1"/>
                </a:solidFill>
              </a:rPr>
              <a:t>small and moving objects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Suitable </a:t>
            </a:r>
            <a:r>
              <a:rPr lang="en-US" dirty="0">
                <a:solidFill>
                  <a:schemeClr val="bg1"/>
                </a:solidFill>
              </a:rPr>
              <a:t>for </a:t>
            </a:r>
            <a:r>
              <a:rPr lang="en-US" b="1" dirty="0">
                <a:solidFill>
                  <a:schemeClr val="bg1"/>
                </a:solidFill>
              </a:rPr>
              <a:t>real-time applications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8761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5"/>
            <a:ext cx="10119751" cy="1144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56267"/>
            <a:ext cx="10515600" cy="4741333"/>
          </a:xfrm>
        </p:spPr>
        <p:txBody>
          <a:bodyPr/>
          <a:lstStyle/>
          <a:p>
            <a:r>
              <a:rPr lang="en-US" sz="2800" b="1" u="sng" dirty="0" err="1">
                <a:solidFill>
                  <a:schemeClr val="bg1"/>
                </a:solidFill>
              </a:rPr>
              <a:t>DeepSORT</a:t>
            </a:r>
            <a:r>
              <a:rPr lang="en-US" sz="2800" b="1" u="sng" dirty="0">
                <a:solidFill>
                  <a:schemeClr val="bg1"/>
                </a:solidFill>
              </a:rPr>
              <a:t> for Vehicle </a:t>
            </a:r>
            <a:r>
              <a:rPr lang="en-US" sz="2800" b="1" u="sng" dirty="0" smtClean="0">
                <a:solidFill>
                  <a:schemeClr val="bg1"/>
                </a:solidFill>
              </a:rPr>
              <a:t>Tracking</a:t>
            </a:r>
            <a:r>
              <a:rPr lang="en-US" sz="2800" b="1" dirty="0" smtClean="0">
                <a:solidFill>
                  <a:schemeClr val="bg1"/>
                </a:solidFill>
              </a:rPr>
              <a:t> :-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How </a:t>
            </a:r>
            <a:r>
              <a:rPr lang="en-US" b="1" dirty="0" err="1">
                <a:solidFill>
                  <a:schemeClr val="bg1"/>
                </a:solidFill>
              </a:rPr>
              <a:t>DeepSORT</a:t>
            </a:r>
            <a:r>
              <a:rPr lang="en-US" b="1" dirty="0">
                <a:solidFill>
                  <a:schemeClr val="bg1"/>
                </a:solidFill>
              </a:rPr>
              <a:t> Works?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Uses </a:t>
            </a:r>
            <a:r>
              <a:rPr lang="en-US" b="1" dirty="0" err="1">
                <a:solidFill>
                  <a:schemeClr val="bg1"/>
                </a:solidFill>
              </a:rPr>
              <a:t>Kalman</a:t>
            </a:r>
            <a:r>
              <a:rPr lang="en-US" b="1" dirty="0">
                <a:solidFill>
                  <a:schemeClr val="bg1"/>
                </a:solidFill>
              </a:rPr>
              <a:t> Filtering</a:t>
            </a:r>
            <a:r>
              <a:rPr lang="en-US" dirty="0">
                <a:solidFill>
                  <a:schemeClr val="bg1"/>
                </a:solidFill>
              </a:rPr>
              <a:t> for predicting object positions.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Matches </a:t>
            </a:r>
            <a:r>
              <a:rPr lang="en-US" dirty="0">
                <a:solidFill>
                  <a:schemeClr val="bg1"/>
                </a:solidFill>
              </a:rPr>
              <a:t>detections with existing tracks based on </a:t>
            </a:r>
            <a:r>
              <a:rPr lang="en-US" b="1" dirty="0">
                <a:solidFill>
                  <a:schemeClr val="bg1"/>
                </a:solidFill>
              </a:rPr>
              <a:t>motion and appearance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Why </a:t>
            </a:r>
            <a:r>
              <a:rPr lang="en-US" b="1" dirty="0" err="1">
                <a:solidFill>
                  <a:schemeClr val="bg1"/>
                </a:solidFill>
              </a:rPr>
              <a:t>DeepSORT</a:t>
            </a:r>
            <a:r>
              <a:rPr lang="en-US" b="1" dirty="0">
                <a:solidFill>
                  <a:schemeClr val="bg1"/>
                </a:solidFill>
              </a:rPr>
              <a:t>?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Assigns </a:t>
            </a:r>
            <a:r>
              <a:rPr lang="en-US" b="1" dirty="0">
                <a:solidFill>
                  <a:schemeClr val="bg1"/>
                </a:solidFill>
              </a:rPr>
              <a:t>consistent IDs</a:t>
            </a:r>
            <a:r>
              <a:rPr lang="en-US" dirty="0">
                <a:solidFill>
                  <a:schemeClr val="bg1"/>
                </a:solidFill>
              </a:rPr>
              <a:t> to vehicles across frames.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Handles </a:t>
            </a:r>
            <a:r>
              <a:rPr lang="en-US" b="1" dirty="0">
                <a:solidFill>
                  <a:schemeClr val="bg1"/>
                </a:solidFill>
              </a:rPr>
              <a:t>occlusions and multiple objects</a:t>
            </a:r>
            <a:r>
              <a:rPr lang="en-US" dirty="0">
                <a:solidFill>
                  <a:schemeClr val="bg1"/>
                </a:solidFill>
              </a:rPr>
              <a:t> efficiently.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	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chemeClr val="bg1"/>
                </a:solidFill>
              </a:rPr>
              <a:t>Reduces </a:t>
            </a:r>
            <a:r>
              <a:rPr lang="en-US" b="1" dirty="0">
                <a:solidFill>
                  <a:schemeClr val="bg1"/>
                </a:solidFill>
              </a:rPr>
              <a:t>ID switching</a:t>
            </a:r>
            <a:r>
              <a:rPr lang="en-US" dirty="0">
                <a:solidFill>
                  <a:schemeClr val="bg1"/>
                </a:solidFill>
              </a:rPr>
              <a:t> compared to traditional trackers.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83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451" y="738895"/>
            <a:ext cx="10515600" cy="17550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75556"/>
            <a:ext cx="10515600" cy="4165599"/>
          </a:xfrm>
        </p:spPr>
        <p:txBody>
          <a:bodyPr/>
          <a:lstStyle/>
          <a:p>
            <a:r>
              <a:rPr lang="en-US" sz="2800" b="1" u="sng" dirty="0">
                <a:solidFill>
                  <a:schemeClr val="bg1"/>
                </a:solidFill>
              </a:rPr>
              <a:t>Implementation </a:t>
            </a:r>
            <a:r>
              <a:rPr lang="en-US" sz="2800" b="1" u="sng" dirty="0" smtClean="0">
                <a:solidFill>
                  <a:schemeClr val="bg1"/>
                </a:solidFill>
              </a:rPr>
              <a:t>Workflow</a:t>
            </a:r>
            <a:r>
              <a:rPr lang="en-US" sz="2800" b="1" dirty="0" smtClean="0">
                <a:solidFill>
                  <a:schemeClr val="bg1"/>
                </a:solidFill>
              </a:rPr>
              <a:t> :-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1:</a:t>
            </a:r>
            <a:r>
              <a:rPr lang="en-US" dirty="0">
                <a:solidFill>
                  <a:schemeClr val="bg1"/>
                </a:solidFill>
              </a:rPr>
              <a:t> Read video input using </a:t>
            </a:r>
            <a:r>
              <a:rPr lang="en-US" dirty="0" err="1">
                <a:solidFill>
                  <a:schemeClr val="bg1"/>
                </a:solidFill>
              </a:rPr>
              <a:t>OpenCV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Step 2:</a:t>
            </a:r>
            <a:r>
              <a:rPr lang="en-US" dirty="0">
                <a:solidFill>
                  <a:schemeClr val="bg1"/>
                </a:solidFill>
              </a:rPr>
              <a:t> Apply YOLOv8 for object detection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3:</a:t>
            </a:r>
            <a:r>
              <a:rPr lang="en-US" dirty="0">
                <a:solidFill>
                  <a:schemeClr val="bg1"/>
                </a:solidFill>
              </a:rPr>
              <a:t> Filter detections for vehicles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4:</a:t>
            </a:r>
            <a:r>
              <a:rPr lang="en-US" dirty="0">
                <a:solidFill>
                  <a:schemeClr val="bg1"/>
                </a:solidFill>
              </a:rPr>
              <a:t> Pass detections to </a:t>
            </a:r>
            <a:r>
              <a:rPr lang="en-US" dirty="0" err="1">
                <a:solidFill>
                  <a:schemeClr val="bg1"/>
                </a:solidFill>
              </a:rPr>
              <a:t>DeepSORT</a:t>
            </a:r>
            <a:r>
              <a:rPr lang="en-US" dirty="0">
                <a:solidFill>
                  <a:schemeClr val="bg1"/>
                </a:solidFill>
              </a:rPr>
              <a:t> for tracking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5:</a:t>
            </a:r>
            <a:r>
              <a:rPr lang="en-US" dirty="0">
                <a:solidFill>
                  <a:schemeClr val="bg1"/>
                </a:solidFill>
              </a:rPr>
              <a:t> Draw bounding boxes &amp; tracking IDs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</a:t>
            </a:r>
            <a:r>
              <a:rPr lang="en-US" b="1" dirty="0" smtClean="0">
                <a:solidFill>
                  <a:schemeClr val="bg1"/>
                </a:solidFill>
              </a:rPr>
              <a:t>Step </a:t>
            </a:r>
            <a:r>
              <a:rPr lang="en-US" b="1" dirty="0">
                <a:solidFill>
                  <a:schemeClr val="bg1"/>
                </a:solidFill>
              </a:rPr>
              <a:t>6:</a:t>
            </a:r>
            <a:r>
              <a:rPr lang="en-US" dirty="0">
                <a:solidFill>
                  <a:schemeClr val="bg1"/>
                </a:solidFill>
              </a:rPr>
              <a:t> Save &amp; display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63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681" y="266530"/>
            <a:ext cx="10515600" cy="29533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900" y="1233890"/>
            <a:ext cx="10515600" cy="5307452"/>
          </a:xfrm>
        </p:spPr>
        <p:txBody>
          <a:bodyPr/>
          <a:lstStyle/>
          <a:p>
            <a:r>
              <a:rPr lang="en-US" sz="2800" b="1" u="sng" dirty="0">
                <a:solidFill>
                  <a:schemeClr val="bg1"/>
                </a:solidFill>
              </a:rPr>
              <a:t>Results &amp; </a:t>
            </a:r>
            <a:r>
              <a:rPr lang="en-US" sz="2800" b="1" u="sng" dirty="0" smtClean="0">
                <a:solidFill>
                  <a:schemeClr val="bg1"/>
                </a:solidFill>
              </a:rPr>
              <a:t>Output </a:t>
            </a:r>
            <a:r>
              <a:rPr lang="en-US" b="1" dirty="0" smtClean="0">
                <a:solidFill>
                  <a:schemeClr val="bg1"/>
                </a:solidFill>
              </a:rPr>
              <a:t>:-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What the Output Looks Like?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The </a:t>
            </a:r>
            <a:r>
              <a:rPr lang="en-US" b="1" dirty="0">
                <a:solidFill>
                  <a:schemeClr val="bg1"/>
                </a:solidFill>
              </a:rPr>
              <a:t>video output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displays :-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	.Detected </a:t>
            </a:r>
            <a:r>
              <a:rPr lang="en-US" dirty="0">
                <a:solidFill>
                  <a:schemeClr val="bg1"/>
                </a:solidFill>
              </a:rPr>
              <a:t>vehicles with </a:t>
            </a:r>
            <a:r>
              <a:rPr lang="en-US" b="1" dirty="0">
                <a:solidFill>
                  <a:schemeClr val="bg1"/>
                </a:solidFill>
              </a:rPr>
              <a:t>bounding boxes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	.</a:t>
            </a:r>
            <a:r>
              <a:rPr lang="en-US" b="1" dirty="0" smtClean="0">
                <a:solidFill>
                  <a:schemeClr val="bg1"/>
                </a:solidFill>
              </a:rPr>
              <a:t>Unique </a:t>
            </a:r>
            <a:r>
              <a:rPr lang="en-US" b="1" dirty="0">
                <a:solidFill>
                  <a:schemeClr val="bg1"/>
                </a:solidFill>
              </a:rPr>
              <a:t>IDs</a:t>
            </a:r>
            <a:r>
              <a:rPr lang="en-US" dirty="0">
                <a:solidFill>
                  <a:schemeClr val="bg1"/>
                </a:solidFill>
              </a:rPr>
              <a:t> assigned to each vehicle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	.</a:t>
            </a:r>
            <a:r>
              <a:rPr lang="en-US" b="1" dirty="0" smtClean="0">
                <a:solidFill>
                  <a:schemeClr val="bg1"/>
                </a:solidFill>
              </a:rPr>
              <a:t>Accurate </a:t>
            </a:r>
            <a:r>
              <a:rPr lang="en-US" b="1" dirty="0">
                <a:solidFill>
                  <a:schemeClr val="bg1"/>
                </a:solidFill>
              </a:rPr>
              <a:t>tracking</a:t>
            </a:r>
            <a:r>
              <a:rPr lang="en-US" dirty="0">
                <a:solidFill>
                  <a:schemeClr val="bg1"/>
                </a:solidFill>
              </a:rPr>
              <a:t> across frames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Accuracy </a:t>
            </a:r>
            <a:r>
              <a:rPr lang="en-US" b="1" dirty="0" smtClean="0">
                <a:solidFill>
                  <a:schemeClr val="bg1"/>
                </a:solidFill>
              </a:rPr>
              <a:t>Achieved :-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		More than 90% accuracy</a:t>
            </a:r>
            <a:r>
              <a:rPr lang="en-US" dirty="0" smtClean="0">
                <a:solidFill>
                  <a:schemeClr val="bg1"/>
                </a:solidFill>
              </a:rPr>
              <a:t> for vehicle tracking.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		Smooth </a:t>
            </a:r>
            <a:r>
              <a:rPr lang="en-US" b="1" dirty="0">
                <a:solidFill>
                  <a:schemeClr val="bg1"/>
                </a:solidFill>
              </a:rPr>
              <a:t>tracking</a:t>
            </a:r>
            <a:r>
              <a:rPr lang="en-US" dirty="0">
                <a:solidFill>
                  <a:schemeClr val="bg1"/>
                </a:solidFill>
              </a:rPr>
              <a:t> even when vehicles overlap.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42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715" y="718219"/>
            <a:ext cx="10515600" cy="7499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867" y="1806766"/>
            <a:ext cx="10515600" cy="3866920"/>
          </a:xfrm>
        </p:spPr>
        <p:txBody>
          <a:bodyPr/>
          <a:lstStyle/>
          <a:p>
            <a:r>
              <a:rPr lang="en-US" b="1" u="sng" dirty="0" smtClean="0">
                <a:solidFill>
                  <a:schemeClr val="bg1"/>
                </a:solidFill>
              </a:rPr>
              <a:t>Applications</a:t>
            </a:r>
            <a:r>
              <a:rPr lang="en-US" b="1" dirty="0" smtClean="0">
                <a:solidFill>
                  <a:schemeClr val="bg1"/>
                </a:solidFill>
              </a:rPr>
              <a:t> :-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Where Can This System Be Used?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.Traffic </a:t>
            </a:r>
            <a:r>
              <a:rPr lang="en-US" b="1" dirty="0">
                <a:solidFill>
                  <a:schemeClr val="bg1"/>
                </a:solidFill>
              </a:rPr>
              <a:t>Monitoring &amp; Analysis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.Autonomous </a:t>
            </a:r>
            <a:r>
              <a:rPr lang="en-US" b="1" dirty="0">
                <a:solidFill>
                  <a:schemeClr val="bg1"/>
                </a:solidFill>
              </a:rPr>
              <a:t>Vehicles</a:t>
            </a:r>
            <a:r>
              <a:rPr lang="en-US" dirty="0">
                <a:solidFill>
                  <a:schemeClr val="bg1"/>
                </a:solidFill>
              </a:rPr>
              <a:t> (Self-driving cars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	</a:t>
            </a:r>
            <a:r>
              <a:rPr lang="en-US" b="1" dirty="0" smtClean="0">
                <a:solidFill>
                  <a:schemeClr val="bg1"/>
                </a:solidFill>
              </a:rPr>
              <a:t>.Smart </a:t>
            </a:r>
            <a:r>
              <a:rPr lang="en-US" b="1" dirty="0">
                <a:solidFill>
                  <a:schemeClr val="bg1"/>
                </a:solidFill>
              </a:rPr>
              <a:t>Cities &amp; Road Safety Systems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.Accident </a:t>
            </a:r>
            <a:r>
              <a:rPr lang="en-US" b="1" dirty="0">
                <a:solidFill>
                  <a:schemeClr val="bg1"/>
                </a:solidFill>
              </a:rPr>
              <a:t>Detection &amp; Prevention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		</a:t>
            </a:r>
            <a:r>
              <a:rPr lang="en-US" b="1" dirty="0" smtClean="0">
                <a:solidFill>
                  <a:schemeClr val="bg1"/>
                </a:solidFill>
              </a:rPr>
              <a:t>.Law </a:t>
            </a:r>
            <a:r>
              <a:rPr lang="en-US" b="1" dirty="0">
                <a:solidFill>
                  <a:schemeClr val="bg1"/>
                </a:solidFill>
              </a:rPr>
              <a:t>Enforcement &amp; Surveillance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4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6272"/>
            <a:ext cx="10515600" cy="4516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531344"/>
            <a:ext cx="10515600" cy="4120309"/>
          </a:xfrm>
        </p:spPr>
        <p:txBody>
          <a:bodyPr/>
          <a:lstStyle/>
          <a:p>
            <a:r>
              <a:rPr lang="en-US" sz="2800" b="1" u="sng" dirty="0">
                <a:solidFill>
                  <a:schemeClr val="bg1"/>
                </a:solidFill>
              </a:rPr>
              <a:t>Advantages &amp; </a:t>
            </a:r>
            <a:r>
              <a:rPr lang="en-US" sz="2800" b="1" u="sng" dirty="0" smtClean="0">
                <a:solidFill>
                  <a:schemeClr val="bg1"/>
                </a:solidFill>
              </a:rPr>
              <a:t>Limitations</a:t>
            </a:r>
            <a:r>
              <a:rPr lang="en-US" sz="2800" b="1" dirty="0" smtClean="0">
                <a:solidFill>
                  <a:schemeClr val="bg1"/>
                </a:solidFill>
              </a:rPr>
              <a:t> :-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b="1" dirty="0" smtClean="0">
                <a:solidFill>
                  <a:schemeClr val="bg1"/>
                </a:solidFill>
              </a:rPr>
              <a:t>Advantages :-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Real-time </a:t>
            </a:r>
            <a:r>
              <a:rPr lang="en-US" b="1" dirty="0">
                <a:solidFill>
                  <a:schemeClr val="bg1"/>
                </a:solidFill>
              </a:rPr>
              <a:t>tracking</a:t>
            </a:r>
            <a:r>
              <a:rPr lang="en-US" dirty="0">
                <a:solidFill>
                  <a:schemeClr val="bg1"/>
                </a:solidFill>
              </a:rPr>
              <a:t> with high accuracy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Works </a:t>
            </a:r>
            <a:r>
              <a:rPr lang="en-US" dirty="0">
                <a:solidFill>
                  <a:schemeClr val="bg1"/>
                </a:solidFill>
              </a:rPr>
              <a:t>in </a:t>
            </a:r>
            <a:r>
              <a:rPr lang="en-US" b="1" dirty="0">
                <a:solidFill>
                  <a:schemeClr val="bg1"/>
                </a:solidFill>
              </a:rPr>
              <a:t>complex traffic environments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Handles </a:t>
            </a:r>
            <a:r>
              <a:rPr lang="en-US" b="1" dirty="0">
                <a:solidFill>
                  <a:schemeClr val="bg1"/>
                </a:solidFill>
              </a:rPr>
              <a:t>multiple vehicles efficiently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	Limitations :-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Requires </a:t>
            </a:r>
            <a:r>
              <a:rPr lang="en-US" b="1" dirty="0">
                <a:solidFill>
                  <a:schemeClr val="bg1"/>
                </a:solidFill>
              </a:rPr>
              <a:t>high computational power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Struggles </a:t>
            </a:r>
            <a:r>
              <a:rPr lang="en-US" dirty="0">
                <a:solidFill>
                  <a:schemeClr val="bg1"/>
                </a:solidFill>
              </a:rPr>
              <a:t>in </a:t>
            </a:r>
            <a:r>
              <a:rPr lang="en-US" b="1" dirty="0">
                <a:solidFill>
                  <a:schemeClr val="bg1"/>
                </a:solidFill>
              </a:rPr>
              <a:t>poor weather conditions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Tracking </a:t>
            </a:r>
            <a:r>
              <a:rPr lang="en-US" dirty="0">
                <a:solidFill>
                  <a:schemeClr val="bg1"/>
                </a:solidFill>
              </a:rPr>
              <a:t>errors in </a:t>
            </a:r>
            <a:r>
              <a:rPr lang="en-US" b="1" dirty="0">
                <a:solidFill>
                  <a:schemeClr val="bg1"/>
                </a:solidFill>
              </a:rPr>
              <a:t>highly crowded areas</a:t>
            </a:r>
            <a:endParaRPr lang="en-US" dirty="0">
              <a:solidFill>
                <a:schemeClr val="bg1"/>
              </a:solidFill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1152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715" y="453816"/>
            <a:ext cx="10515600" cy="19618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751683"/>
            <a:ext cx="10515600" cy="4393052"/>
          </a:xfrm>
        </p:spPr>
        <p:txBody>
          <a:bodyPr/>
          <a:lstStyle/>
          <a:p>
            <a:r>
              <a:rPr lang="en-US" sz="2800" b="1" u="sng" dirty="0" smtClean="0">
                <a:solidFill>
                  <a:schemeClr val="bg1"/>
                </a:solidFill>
              </a:rPr>
              <a:t>Conclusion </a:t>
            </a:r>
            <a:r>
              <a:rPr lang="en-US" sz="2800" b="1" dirty="0" smtClean="0">
                <a:solidFill>
                  <a:schemeClr val="bg1"/>
                </a:solidFill>
              </a:rPr>
              <a:t>:-</a:t>
            </a:r>
            <a:endParaRPr lang="en-US" sz="2800" b="1" dirty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	Summary </a:t>
            </a:r>
            <a:r>
              <a:rPr lang="en-US" b="1" dirty="0">
                <a:solidFill>
                  <a:schemeClr val="bg1"/>
                </a:solidFill>
              </a:rPr>
              <a:t>of Findings</a:t>
            </a:r>
            <a:r>
              <a:rPr lang="en-US" b="1" dirty="0" smtClean="0">
                <a:solidFill>
                  <a:schemeClr val="bg1"/>
                </a:solidFill>
              </a:rPr>
              <a:t>:-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		Successfully </a:t>
            </a:r>
            <a:r>
              <a:rPr lang="en-US" dirty="0">
                <a:solidFill>
                  <a:schemeClr val="bg1"/>
                </a:solidFill>
              </a:rPr>
              <a:t>implemented </a:t>
            </a:r>
            <a:r>
              <a:rPr lang="en-US" b="1" dirty="0">
                <a:solidFill>
                  <a:schemeClr val="bg1"/>
                </a:solidFill>
              </a:rPr>
              <a:t>real-time vehicle tracking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	YOLOv8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dirty="0" err="1">
                <a:solidFill>
                  <a:schemeClr val="bg1"/>
                </a:solidFill>
              </a:rPr>
              <a:t>DeepSORT</a:t>
            </a:r>
            <a:r>
              <a:rPr lang="en-US" dirty="0">
                <a:solidFill>
                  <a:schemeClr val="bg1"/>
                </a:solidFill>
              </a:rPr>
              <a:t> provide </a:t>
            </a:r>
            <a:r>
              <a:rPr lang="en-US" b="1" dirty="0">
                <a:solidFill>
                  <a:schemeClr val="bg1"/>
                </a:solidFill>
              </a:rPr>
              <a:t>high accuracy &amp; efficiency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	Can be extended for </a:t>
            </a:r>
            <a:r>
              <a:rPr lang="en-US" b="1" dirty="0" smtClean="0">
                <a:solidFill>
                  <a:schemeClr val="bg1"/>
                </a:solidFill>
              </a:rPr>
              <a:t>smart traffic systems &amp; autonomous vehicles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	 </a:t>
            </a:r>
            <a:r>
              <a:rPr lang="en-US" b="1" dirty="0">
                <a:solidFill>
                  <a:schemeClr val="bg1"/>
                </a:solidFill>
              </a:rPr>
              <a:t>Key Takeaway</a:t>
            </a:r>
            <a:r>
              <a:rPr lang="en-US" b="1" dirty="0" smtClean="0">
                <a:solidFill>
                  <a:schemeClr val="bg1"/>
                </a:solidFill>
              </a:rPr>
              <a:t>:-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		</a:t>
            </a:r>
            <a:r>
              <a:rPr lang="en-US" b="1" dirty="0" smtClean="0">
                <a:solidFill>
                  <a:schemeClr val="bg1"/>
                </a:solidFill>
              </a:rPr>
              <a:t>"AI-powered vehicle tracking can transform the future of traffic monitoring and road safety!"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95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2234</TotalTime>
  <Words>54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Real-Time Vehicle Detection and Tracking using YOLOv8 and DeepSORT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37</cp:revision>
  <dcterms:created xsi:type="dcterms:W3CDTF">2025-03-23T01:29:57Z</dcterms:created>
  <dcterms:modified xsi:type="dcterms:W3CDTF">2025-03-24T14:01:05Z</dcterms:modified>
</cp:coreProperties>
</file>